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sldIdLst>
    <p:sldId id="262" r:id="rId2"/>
    <p:sldId id="283" r:id="rId3"/>
    <p:sldId id="285" r:id="rId4"/>
    <p:sldId id="286" r:id="rId5"/>
    <p:sldId id="287" r:id="rId6"/>
    <p:sldId id="288" r:id="rId7"/>
    <p:sldId id="289" r:id="rId8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HGP創英角ｺﾞｼｯｸUB" pitchFamily="50" charset="-128"/>
        <a:ea typeface="HGP創英角ｺﾞｼｯｸUB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C0"/>
    <a:srgbClr val="FF0000"/>
    <a:srgbClr val="FFFF66"/>
    <a:srgbClr val="FFFFCC"/>
    <a:srgbClr val="4D4D4D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30" autoAdjust="0"/>
    <p:restoredTop sz="94690" autoAdjust="0"/>
  </p:normalViewPr>
  <p:slideViewPr>
    <p:cSldViewPr>
      <p:cViewPr>
        <p:scale>
          <a:sx n="100" d="100"/>
          <a:sy n="100" d="100"/>
        </p:scale>
        <p:origin x="-2214" y="-390"/>
      </p:cViewPr>
      <p:guideLst>
        <p:guide orient="horz" pos="2160"/>
        <p:guide orient="horz" pos="397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78" y="-120"/>
      </p:cViewPr>
      <p:guideLst>
        <p:guide orient="horz" pos="3130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887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fld id="{6379045D-377B-4F34-967A-93AB32247DA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52934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A9F93-22E0-4496-B638-BD9A443607C8}" type="slidenum">
              <a:rPr lang="en-US" altLang="ja-JP"/>
              <a:pPr/>
              <a:t>0</a:t>
            </a:fld>
            <a:endParaRPr lang="en-US" altLang="ja-JP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5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2788-6D84-4FA8-86A6-5DCFEA18894F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5" name="Picture 1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4916488"/>
            <a:ext cx="4386262" cy="17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77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1150938" y="2641600"/>
            <a:ext cx="6845300" cy="608013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264" tIns="43631" rIns="87264" bIns="43631"/>
          <a:lstStyle>
            <a:lvl1pPr algn="ctr">
              <a:defRPr sz="2800"/>
            </a:lvl1pPr>
          </a:lstStyle>
          <a:p>
            <a:pPr lvl="0"/>
            <a:endParaRPr lang="ja-JP" altLang="ja-JP" noProof="0" smtClean="0"/>
          </a:p>
        </p:txBody>
      </p:sp>
      <p:sp>
        <p:nvSpPr>
          <p:cNvPr id="66578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13100"/>
            <a:ext cx="6400800" cy="522288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7264" tIns="43631" rIns="87264" bIns="43631" anchor="ctr"/>
          <a:lstStyle>
            <a:lvl1pPr marL="0" indent="0" algn="ctr">
              <a:buFontTx/>
              <a:buNone/>
              <a:defRPr sz="1400"/>
            </a:lvl1pPr>
          </a:lstStyle>
          <a:p>
            <a:pPr lvl="0"/>
            <a:endParaRPr lang="ja-JP" altLang="ja-JP" noProof="0" smtClean="0"/>
          </a:p>
        </p:txBody>
      </p:sp>
      <p:sp>
        <p:nvSpPr>
          <p:cNvPr id="66579" name="Line 19"/>
          <p:cNvSpPr>
            <a:spLocks noChangeShapeType="1"/>
          </p:cNvSpPr>
          <p:nvPr userDrawn="1"/>
        </p:nvSpPr>
        <p:spPr bwMode="auto">
          <a:xfrm>
            <a:off x="458788" y="3233738"/>
            <a:ext cx="8220075" cy="0"/>
          </a:xfrm>
          <a:prstGeom prst="line">
            <a:avLst/>
          </a:prstGeom>
          <a:noFill/>
          <a:ln w="25400">
            <a:solidFill>
              <a:srgbClr val="0041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66581" name="Picture 21" descr="Panasonic_RGB"/>
          <p:cNvPicPr preferRelativeResize="0"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6270354"/>
            <a:ext cx="1975644" cy="30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D07EB0-2A29-4FE0-968B-9ADA45A7504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4005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0CFCC8-E9C7-4254-955C-CDC4C0B66C8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2213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250825" y="765175"/>
            <a:ext cx="4244975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765175"/>
            <a:ext cx="4244975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CBEBEB-28FA-4277-87CC-97A6FC0DA25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2824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E468AA-D093-4355-9C0A-F847EE13F77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9208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90565EE-32AB-488B-A32A-6651E8F8A64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8285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Text Box 12"/>
          <p:cNvSpPr txBox="1">
            <a:spLocks noChangeArrowheads="1"/>
          </p:cNvSpPr>
          <p:nvPr userDrawn="1"/>
        </p:nvSpPr>
        <p:spPr bwMode="auto">
          <a:xfrm>
            <a:off x="2423052" y="6721043"/>
            <a:ext cx="3228448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/>
            <a:r>
              <a:rPr kumimoji="0" lang="en-US" altLang="ja-JP" sz="600" dirty="0">
                <a:latin typeface="PUD新ゴシック表示-M" pitchFamily="50" charset="-128"/>
                <a:ea typeface="PUD新ゴシック表示-M" pitchFamily="50" charset="-128"/>
              </a:rPr>
              <a:t>Copyright(C) </a:t>
            </a:r>
            <a:r>
              <a:rPr kumimoji="0" lang="en-US" altLang="ja-JP" sz="600" dirty="0" smtClean="0">
                <a:latin typeface="PUD新ゴシック表示-M" pitchFamily="50" charset="-128"/>
                <a:ea typeface="PUD新ゴシック表示-M" pitchFamily="50" charset="-128"/>
              </a:rPr>
              <a:t>2015 </a:t>
            </a:r>
            <a:r>
              <a:rPr kumimoji="0" lang="en-US" altLang="ja-JP" sz="600" dirty="0">
                <a:latin typeface="PUD新ゴシック表示-M" pitchFamily="50" charset="-128"/>
                <a:ea typeface="PUD新ゴシック表示-M" pitchFamily="50" charset="-128"/>
              </a:rPr>
              <a:t>Panasonic Information Systems Co., Ltd. All rights reserved.</a:t>
            </a:r>
            <a:endParaRPr lang="en-US" altLang="ja-JP" sz="600" dirty="0">
              <a:latin typeface="PUD新ゴシック表示-M" pitchFamily="50" charset="-128"/>
              <a:ea typeface="PUD新ゴシック表示-M" pitchFamily="50" charset="-128"/>
            </a:endParaRPr>
          </a:p>
        </p:txBody>
      </p:sp>
      <p:pic>
        <p:nvPicPr>
          <p:cNvPr id="1058" name="Picture 34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6733743"/>
            <a:ext cx="1936750" cy="7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0" y="0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D4D4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7963" y="58738"/>
            <a:ext cx="82518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765175"/>
            <a:ext cx="8642350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91550" y="114300"/>
            <a:ext cx="5397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-128"/>
              </a:defRPr>
            </a:lvl1pPr>
          </a:lstStyle>
          <a:p>
            <a:fld id="{C4771D79-7FD9-4BE6-A9E4-FB60B436B32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38" name="Line 14"/>
          <p:cNvSpPr>
            <a:spLocks noChangeShapeType="1"/>
          </p:cNvSpPr>
          <p:nvPr userDrawn="1"/>
        </p:nvSpPr>
        <p:spPr bwMode="auto">
          <a:xfrm>
            <a:off x="8558213" y="63500"/>
            <a:ext cx="0" cy="404813"/>
          </a:xfrm>
          <a:prstGeom prst="line">
            <a:avLst/>
          </a:prstGeom>
          <a:noFill/>
          <a:ln w="63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54" name="Line 30"/>
          <p:cNvSpPr>
            <a:spLocks noChangeShapeType="1"/>
          </p:cNvSpPr>
          <p:nvPr userDrawn="1"/>
        </p:nvSpPr>
        <p:spPr bwMode="auto">
          <a:xfrm flipV="1">
            <a:off x="0" y="6669360"/>
            <a:ext cx="7450138" cy="0"/>
          </a:xfrm>
          <a:prstGeom prst="line">
            <a:avLst/>
          </a:prstGeom>
          <a:noFill/>
          <a:ln w="6350">
            <a:solidFill>
              <a:srgbClr val="004CC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55" name="Picture 31" descr="Panasonic_RGB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3" y="6597352"/>
            <a:ext cx="1173162" cy="17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Line 35"/>
          <p:cNvSpPr>
            <a:spLocks noChangeShapeType="1"/>
          </p:cNvSpPr>
          <p:nvPr userDrawn="1"/>
        </p:nvSpPr>
        <p:spPr bwMode="auto">
          <a:xfrm>
            <a:off x="168275" y="549275"/>
            <a:ext cx="8220075" cy="0"/>
          </a:xfrm>
          <a:prstGeom prst="line">
            <a:avLst/>
          </a:prstGeom>
          <a:noFill/>
          <a:ln w="25400">
            <a:solidFill>
              <a:srgbClr val="0041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2627784" y="5248275"/>
            <a:ext cx="4104455" cy="562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7264" tIns="43631" rIns="87264" bIns="43631">
            <a:spAutoFit/>
          </a:bodyPr>
          <a:lstStyle>
            <a:lvl1pPr algn="ctr" defTabSz="950913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1pPr>
            <a:lvl2pPr marL="476250" algn="ctr" defTabSz="950913">
              <a:spcBef>
                <a:spcPct val="20000"/>
              </a:spcBef>
              <a:defRPr kumimoji="1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marL="950913" algn="ctr" defTabSz="950913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marL="1425575" algn="ctr" defTabSz="950913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marL="1900238" algn="ctr" defTabSz="950913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2357438" algn="ctr" defTabSz="950913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6pPr>
            <a:lvl7pPr marL="2814638" algn="ctr" defTabSz="950913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7pPr>
            <a:lvl8pPr marL="3271838" algn="ctr" defTabSz="950913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8pPr>
            <a:lvl9pPr marL="3729038" algn="ctr" defTabSz="950913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9pPr>
          </a:lstStyle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IDC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サービス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事業部　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IDC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ソリューション部　</a:t>
            </a:r>
            <a:endParaRPr lang="en-US" altLang="ja-JP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VDI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サービスチーム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750" name="Rectangle 3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NetKaleido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v4 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エージェント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751" name="Rectangle 3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補足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資料（</a:t>
            </a:r>
            <a:r>
              <a:rPr lang="en-US" altLang="ja-JP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Netkaleido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Control Agent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3759327" y="4076700"/>
            <a:ext cx="1625347" cy="30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264" tIns="43631" rIns="87264" bIns="43631">
            <a:spAutoFit/>
          </a:bodyPr>
          <a:lstStyle>
            <a:lvl1pPr algn="ctr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1pPr>
            <a:lvl2pPr algn="ctr">
              <a:spcBef>
                <a:spcPct val="20000"/>
              </a:spcBef>
              <a:defRPr kumimoji="1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ctr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ctr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ctr">
              <a:spcBef>
                <a:spcPct val="20000"/>
              </a:spcBef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9pPr>
          </a:lstStyle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2016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　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月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8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日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1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クライアントへの通信について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■サーバからクライアントへの通信は、下記の規則にそって行います。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プロトコル：</a:t>
            </a:r>
            <a:r>
              <a:rPr lang="en-US" altLang="ja-JP" sz="1400" dirty="0" smtClean="0"/>
              <a:t>UDP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ポート：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サーバ：エフェメラルポート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クライアント：</a:t>
            </a:r>
            <a:r>
              <a:rPr lang="en-US" altLang="ja-JP" sz="1400" dirty="0" smtClean="0"/>
              <a:t>60000</a:t>
            </a:r>
            <a:r>
              <a:rPr lang="ja-JP" altLang="en-US" sz="1400" dirty="0" smtClean="0"/>
              <a:t>（デフォルト、設定ファイル（</a:t>
            </a:r>
            <a:r>
              <a:rPr lang="en-US" altLang="ja-JP" sz="1400" dirty="0" smtClean="0"/>
              <a:t>NKAgent.ini</a:t>
            </a:r>
            <a:r>
              <a:rPr lang="ja-JP" altLang="en-US" sz="1400" dirty="0" smtClean="0"/>
              <a:t>）で変更可能）</a:t>
            </a:r>
            <a:endParaRPr lang="en-US" altLang="ja-JP" sz="1400" dirty="0" smtClean="0"/>
          </a:p>
          <a:p>
            <a:endParaRPr lang="en-US" altLang="ja-JP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データフォーマット：</a:t>
            </a:r>
            <a:endParaRPr lang="en-US" altLang="ja-JP" sz="1400" dirty="0" smtClean="0"/>
          </a:p>
          <a:p>
            <a:r>
              <a:rPr lang="ja-JP" altLang="en-US" sz="1400" dirty="0"/>
              <a:t>　</a:t>
            </a:r>
            <a:r>
              <a:rPr lang="ja-JP" altLang="en-US" sz="1400" dirty="0" smtClean="0"/>
              <a:t>　次の擬似</a:t>
            </a:r>
            <a:r>
              <a:rPr lang="en-US" altLang="ja-JP" sz="1400" dirty="0" smtClean="0"/>
              <a:t>XML</a:t>
            </a:r>
            <a:r>
              <a:rPr lang="ja-JP" altLang="en-US" sz="1400" dirty="0" smtClean="0"/>
              <a:t>文字列を送信します。</a:t>
            </a:r>
            <a:endParaRPr lang="en-US" altLang="ja-JP" sz="1400" dirty="0" smtClean="0"/>
          </a:p>
          <a:p>
            <a:r>
              <a:rPr lang="ja-JP" altLang="en-US" sz="1400" dirty="0"/>
              <a:t>　</a:t>
            </a:r>
            <a:r>
              <a:rPr lang="ja-JP" altLang="en-US" sz="1400" dirty="0" smtClean="0"/>
              <a:t>　（注意：</a:t>
            </a:r>
            <a:r>
              <a:rPr lang="en-US" altLang="ja-JP" sz="1400" dirty="0" smtClean="0"/>
              <a:t>XML</a:t>
            </a:r>
            <a:r>
              <a:rPr lang="ja-JP" altLang="en-US" sz="1400" dirty="0" smtClean="0"/>
              <a:t>のルート要素に該当する要素が存在しません）</a:t>
            </a:r>
            <a:endParaRPr lang="en-US" altLang="ja-JP" sz="1400" dirty="0" smtClean="0"/>
          </a:p>
          <a:p>
            <a:endParaRPr lang="en-US" altLang="ja-JP" sz="1400" dirty="0"/>
          </a:p>
          <a:p>
            <a:r>
              <a:rPr lang="ja-JP" altLang="en-US" sz="1400" dirty="0" smtClean="0"/>
              <a:t>　　</a:t>
            </a:r>
            <a:r>
              <a:rPr lang="en-US" altLang="ja-JP" sz="1400" dirty="0"/>
              <a:t>“&lt;</a:t>
            </a:r>
            <a:r>
              <a:rPr lang="en-US" altLang="ja-JP" sz="1400" dirty="0" err="1"/>
              <a:t>req</a:t>
            </a:r>
            <a:r>
              <a:rPr lang="en-US" altLang="ja-JP" sz="1400" dirty="0"/>
              <a:t>&gt;&lt;/</a:t>
            </a:r>
            <a:r>
              <a:rPr lang="en-US" altLang="ja-JP" sz="1400" dirty="0" err="1"/>
              <a:t>req</a:t>
            </a:r>
            <a:r>
              <a:rPr lang="en-US" altLang="ja-JP" sz="1400" dirty="0"/>
              <a:t>&gt;&lt;mac&gt;&lt;/mac&gt;&lt;</a:t>
            </a:r>
            <a:r>
              <a:rPr lang="en-US" altLang="ja-JP" sz="1400" dirty="0" err="1"/>
              <a:t>ip</a:t>
            </a:r>
            <a:r>
              <a:rPr lang="en-US" altLang="ja-JP" sz="1400" dirty="0"/>
              <a:t>&gt;&lt;/</a:t>
            </a:r>
            <a:r>
              <a:rPr lang="en-US" altLang="ja-JP" sz="1400" dirty="0" err="1"/>
              <a:t>ip</a:t>
            </a:r>
            <a:r>
              <a:rPr lang="en-US" altLang="ja-JP" sz="1400" dirty="0"/>
              <a:t>&gt;&lt;wait&gt;&lt;/wait&gt;&lt;</a:t>
            </a:r>
            <a:r>
              <a:rPr lang="en-US" altLang="ja-JP" sz="1400" dirty="0" err="1"/>
              <a:t>jmsg</a:t>
            </a:r>
            <a:r>
              <a:rPr lang="en-US" altLang="ja-JP" sz="1400" dirty="0"/>
              <a:t>&gt;&lt;/</a:t>
            </a:r>
            <a:r>
              <a:rPr lang="en-US" altLang="ja-JP" sz="1400" dirty="0" err="1"/>
              <a:t>jmsg</a:t>
            </a:r>
            <a:r>
              <a:rPr lang="en-US" altLang="ja-JP" sz="1400" dirty="0"/>
              <a:t>&gt;&lt;</a:t>
            </a:r>
            <a:r>
              <a:rPr lang="en-US" altLang="ja-JP" sz="1400" dirty="0" err="1"/>
              <a:t>msg</a:t>
            </a:r>
            <a:r>
              <a:rPr lang="en-US" altLang="ja-JP" sz="1400" dirty="0"/>
              <a:t>&gt;&lt;/</a:t>
            </a:r>
            <a:r>
              <a:rPr lang="en-US" altLang="ja-JP" sz="1400" dirty="0" err="1"/>
              <a:t>msg</a:t>
            </a:r>
            <a:r>
              <a:rPr lang="en-US" altLang="ja-JP" sz="1400" dirty="0" smtClean="0"/>
              <a:t>&gt;”</a:t>
            </a:r>
          </a:p>
          <a:p>
            <a:endParaRPr lang="en-US" altLang="ja-JP" sz="1400" dirty="0"/>
          </a:p>
          <a:p>
            <a:r>
              <a:rPr lang="ja-JP" altLang="en-US" sz="1400" dirty="0" smtClean="0"/>
              <a:t>　　エンコード：</a:t>
            </a:r>
            <a:r>
              <a:rPr lang="en-US" altLang="ja-JP" sz="1400" dirty="0" err="1" smtClean="0"/>
              <a:t>Shift_JIS</a:t>
            </a:r>
            <a:endParaRPr lang="en-US" altLang="ja-JP" sz="1400" dirty="0"/>
          </a:p>
          <a:p>
            <a:endParaRPr lang="en-US" altLang="ja-JP" sz="1400" dirty="0" smtClean="0"/>
          </a:p>
          <a:p>
            <a:endParaRPr lang="en-US" altLang="ja-JP" sz="1400" dirty="0" smtClean="0"/>
          </a:p>
          <a:p>
            <a:r>
              <a:rPr lang="ja-JP" altLang="en-US" sz="1400" dirty="0" smtClean="0"/>
              <a:t>■送信される制御要求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クライアント</a:t>
            </a:r>
            <a:r>
              <a:rPr lang="ja-JP" altLang="en-US" sz="1400" dirty="0"/>
              <a:t>の</a:t>
            </a:r>
            <a:r>
              <a:rPr lang="ja-JP" altLang="en-US" sz="1400" dirty="0" smtClean="0"/>
              <a:t>ステータス要求</a:t>
            </a:r>
            <a:endParaRPr lang="en-US" altLang="ja-JP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再起動処理要求</a:t>
            </a:r>
            <a:endParaRPr lang="en-US" altLang="ja-JP" sz="14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シャットダウン処理要求</a:t>
            </a:r>
            <a:endParaRPr lang="en-US" altLang="ja-JP" sz="14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フルキャッシュ完了後シャットダウン処理要求（</a:t>
            </a:r>
            <a:r>
              <a:rPr lang="en-US" altLang="ja-JP" sz="1400" dirty="0" smtClean="0"/>
              <a:t>Windows</a:t>
            </a:r>
            <a:r>
              <a:rPr lang="ja-JP" altLang="en-US" sz="1400" dirty="0" smtClean="0"/>
              <a:t>版のみ、試験的実装）</a:t>
            </a:r>
            <a:r>
              <a:rPr lang="ja-JP" altLang="en-US" sz="1400" dirty="0"/>
              <a:t> </a:t>
            </a: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992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2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クライアントへの通信について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■クライアント</a:t>
            </a:r>
            <a:r>
              <a:rPr lang="ja-JP" altLang="en-US" sz="1400" dirty="0"/>
              <a:t>のステータス要求</a:t>
            </a:r>
            <a:endParaRPr lang="en-US" altLang="ja-JP" sz="1400" dirty="0"/>
          </a:p>
          <a:p>
            <a:endParaRPr lang="en-US" altLang="ja-JP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/>
              <a:t>必須</a:t>
            </a:r>
            <a:r>
              <a:rPr lang="ja-JP" altLang="en-US" sz="1400" dirty="0" smtClean="0"/>
              <a:t>パラメータ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”STAT”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をセット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送信データサンプル：</a:t>
            </a:r>
            <a:endParaRPr lang="en-US" altLang="ja-JP" sz="1400" dirty="0"/>
          </a:p>
          <a:p>
            <a:r>
              <a:rPr lang="ja-JP" altLang="en-US" sz="1400" dirty="0" smtClean="0"/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&gt;STAT&lt;/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&gt;&lt;mac&gt;&lt;/mac&gt;&lt;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&gt;”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 smtClean="0"/>
              <a:t>　　</a:t>
            </a:r>
            <a:endParaRPr lang="en-US" altLang="ja-JP" sz="1400" dirty="0"/>
          </a:p>
          <a:p>
            <a:r>
              <a:rPr lang="ja-JP" altLang="en-US" sz="1400" dirty="0" smtClean="0"/>
              <a:t>　　</a:t>
            </a:r>
            <a:r>
              <a:rPr lang="en-US" altLang="ja-JP" sz="1400" dirty="0" smtClean="0"/>
              <a:t>※</a:t>
            </a:r>
            <a:r>
              <a:rPr lang="ja-JP" altLang="en-US" sz="1400" dirty="0" smtClean="0"/>
              <a:t>クライアントのステータス要求時は、上記サンプル以外の文字列を送信することはありません。</a:t>
            </a:r>
            <a:endParaRPr lang="en-US" altLang="ja-JP" sz="1400" dirty="0" smtClean="0"/>
          </a:p>
          <a:p>
            <a:endParaRPr lang="en-US" altLang="ja-JP" sz="1400" dirty="0" smtClean="0"/>
          </a:p>
          <a:p>
            <a:r>
              <a:rPr lang="ja-JP" altLang="en-US" sz="1400" dirty="0" smtClean="0"/>
              <a:t>■再起動処理要求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必須パラメータ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:”REST”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をセット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オプションパラメータ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mac: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指定されている場合は、クライアントの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MAC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アドレスと一致するかチェックし、一致する場合のみ処理を行う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指定されている場合は、クライアントの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アドレスと一致するかチェックし、一致する場合のみ処理を行う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指定されている場合は、画面に警告メッセージを表示する（英語）。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パラメータの指定が必要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指定されている場合は、画面に警告メッセージを表示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する（日本語）。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パラメータの指定が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必要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wait:msg</a:t>
            </a:r>
            <a:r>
              <a:rPr lang="ja-JP" altLang="en-US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または</a:t>
            </a: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が指定されている場合に、再起動を行うまでに待機する時間（秒）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送信データサンプル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/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&gt;REST&lt;/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&gt;&lt;mac&gt;&lt;/mac&gt;&lt;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&gt;&lt;wait&gt;30&lt;/wait&gt;&lt;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</a:t>
            </a:r>
          </a:p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&gt;30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秒後にクライアントを再起動します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&lt;/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&gt;”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125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3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クライアントへの通信について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■シャットダウン処理要求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必須パラメータ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:”STOP”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をセット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オプションパラメータ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mac: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指定されている場合は、クライアントの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MAC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アドレスと一致するかチェックし、一致する場合のみ処理を行う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指定されている場合は、クライアントの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アドレスと一致するかチェックし、一致する場合のみ処理を行う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指定されている場合は、画面に警告メッセージを表示する（英語）。</a:t>
            </a:r>
            <a:r>
              <a:rPr lang="en-US" altLang="ja-JP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パラメータの指定が必要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指定されている場合は、画面に警告メッセージを表示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する（日本語）。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パラメータの指定が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必要</a:t>
            </a:r>
            <a:endParaRPr lang="en-US" altLang="ja-JP" sz="12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wait:msg</a:t>
            </a:r>
            <a:r>
              <a:rPr lang="ja-JP" altLang="en-US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または</a:t>
            </a:r>
            <a:r>
              <a:rPr lang="en-US" altLang="ja-JP" sz="12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ja-JP" altLang="en-US" sz="12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が指定されている場合に、シャットダウンを行うまでに待機する時間（秒）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送信データサンプル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/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&gt;STOP&lt;/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&gt;&lt;mac&gt;&lt;/mac&gt;&lt;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&gt;&lt;wait&gt;30&lt;/wait&gt;&lt;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</a:t>
            </a:r>
          </a:p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&gt;30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秒後にクライアントをシャットダウンします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&lt;/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jmsg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&gt;”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642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4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クライアントへの通信について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</a:t>
            </a:r>
            <a:r>
              <a:rPr lang="ja-JP" altLang="en-US" sz="1400" dirty="0"/>
              <a:t>フルキャッシュ完了後シャットダウン処理要求（</a:t>
            </a:r>
            <a:r>
              <a:rPr lang="en-US" altLang="ja-JP" sz="1400" dirty="0"/>
              <a:t>Windows</a:t>
            </a:r>
            <a:r>
              <a:rPr lang="ja-JP" altLang="en-US" sz="1400" dirty="0"/>
              <a:t>版のみ、</a:t>
            </a:r>
            <a:r>
              <a:rPr lang="ja-JP" altLang="en-US" sz="1400" dirty="0" smtClean="0"/>
              <a:t>試験的実装）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必須パラメータ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:”CHKCACHE”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をセット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送信データサンプル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/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“&lt;</a:t>
            </a: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&gt;CHKCACHE&lt;/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req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&gt;&lt;mac&gt;&lt;/mac&gt;&lt;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&gt;&lt;/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ip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&gt;”</a:t>
            </a: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この機能は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NetKaleido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エージェントで行う必要はありませんので、無視していただいて構いません。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086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5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クライアントからサーバへの通信について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■クライアントからサーバへの通信は、クライアントステータスの送信のみとなり、下記の規則にそって行います。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プロトコル：</a:t>
            </a:r>
            <a:r>
              <a:rPr lang="en-US" altLang="ja-JP" sz="1400" dirty="0" smtClean="0"/>
              <a:t>TCP(HTTP)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ポート：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サーバ：</a:t>
            </a:r>
            <a:r>
              <a:rPr lang="en-US" altLang="ja-JP" sz="1400" dirty="0" smtClean="0"/>
              <a:t>80</a:t>
            </a:r>
            <a:r>
              <a:rPr lang="ja-JP" altLang="en-US" sz="1400" dirty="0" smtClean="0"/>
              <a:t>（デフォルト</a:t>
            </a:r>
            <a:r>
              <a:rPr lang="ja-JP" altLang="en-US" sz="1400" dirty="0"/>
              <a:t>、設定ファイル（</a:t>
            </a:r>
            <a:r>
              <a:rPr lang="en-US" altLang="ja-JP" sz="1400" dirty="0"/>
              <a:t>NKAgent.ini</a:t>
            </a:r>
            <a:r>
              <a:rPr lang="ja-JP" altLang="en-US" sz="1400" dirty="0"/>
              <a:t>）で変更可能）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クライアント：エフェメラルポート</a:t>
            </a:r>
            <a:endParaRPr lang="en-US" altLang="ja-JP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送信先</a:t>
            </a:r>
            <a:r>
              <a:rPr lang="en-US" altLang="ja-JP" sz="1400" dirty="0" smtClean="0"/>
              <a:t>URL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/>
              <a:t>http://{netkaleido </a:t>
            </a:r>
            <a:r>
              <a:rPr lang="ja-JP" altLang="en-US" sz="1400" dirty="0" smtClean="0"/>
              <a:t>サーバ</a:t>
            </a:r>
            <a:r>
              <a:rPr lang="en-US" altLang="ja-JP" sz="1400" dirty="0" smtClean="0"/>
              <a:t>}/{</a:t>
            </a:r>
            <a:r>
              <a:rPr lang="en-US" altLang="ja-JP" sz="1400" dirty="0" err="1" smtClean="0"/>
              <a:t>netkaleido</a:t>
            </a:r>
            <a:r>
              <a:rPr lang="ja-JP" altLang="en-US" sz="1400" dirty="0" smtClean="0"/>
              <a:t>パス</a:t>
            </a:r>
            <a:r>
              <a:rPr lang="en-US" altLang="ja-JP" sz="1400" dirty="0" smtClean="0"/>
              <a:t>}/PutStatus.ashx</a:t>
            </a:r>
          </a:p>
          <a:p>
            <a:endParaRPr lang="en-US" altLang="ja-JP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データフォーマット：</a:t>
            </a:r>
            <a:endParaRPr lang="en-US" altLang="ja-JP" sz="1400" dirty="0" smtClean="0"/>
          </a:p>
          <a:p>
            <a:r>
              <a:rPr lang="ja-JP" altLang="en-US" sz="1400" dirty="0"/>
              <a:t>　</a:t>
            </a:r>
            <a:r>
              <a:rPr lang="ja-JP" altLang="en-US" sz="1400" dirty="0" smtClean="0"/>
              <a:t>　次の</a:t>
            </a:r>
            <a:r>
              <a:rPr lang="en-US" altLang="ja-JP" sz="1400" dirty="0" smtClean="0"/>
              <a:t>HTTP POST</a:t>
            </a:r>
            <a:r>
              <a:rPr lang="ja-JP" altLang="en-US" sz="1400" dirty="0" smtClean="0"/>
              <a:t>データを送信します。</a:t>
            </a:r>
            <a:endParaRPr lang="en-US" altLang="ja-JP" sz="1400" dirty="0" smtClean="0"/>
          </a:p>
          <a:p>
            <a:r>
              <a:rPr lang="ja-JP" altLang="en-US" sz="1400" dirty="0"/>
              <a:t>　</a:t>
            </a:r>
            <a:r>
              <a:rPr lang="ja-JP" altLang="en-US" sz="1400" dirty="0" smtClean="0"/>
              <a:t>　</a:t>
            </a:r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/>
              <a:t>データパラメータ</a:t>
            </a:r>
            <a:endParaRPr lang="en-US" altLang="ja-JP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smtClean="0"/>
              <a:t>mac:</a:t>
            </a:r>
            <a:r>
              <a:rPr lang="ja-JP" altLang="en-US" sz="1200" dirty="0" smtClean="0"/>
              <a:t>クライアントの</a:t>
            </a:r>
            <a:r>
              <a:rPr lang="en-US" altLang="ja-JP" sz="1200" dirty="0" smtClean="0"/>
              <a:t>MAC</a:t>
            </a:r>
            <a:r>
              <a:rPr lang="ja-JP" altLang="en-US" sz="1200" dirty="0" smtClean="0"/>
              <a:t>アドレス</a:t>
            </a:r>
            <a:endParaRPr lang="en-US" altLang="ja-JP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/>
              <a:t>boot_time</a:t>
            </a:r>
            <a:r>
              <a:rPr lang="en-US" altLang="ja-JP" sz="1200" dirty="0" smtClean="0"/>
              <a:t>:</a:t>
            </a:r>
            <a:r>
              <a:rPr lang="ja-JP" altLang="en-US" sz="1200" dirty="0" smtClean="0"/>
              <a:t>起動時間（＝サービスの起動時間を使用）、フォーマットは</a:t>
            </a:r>
            <a:r>
              <a:rPr lang="en-US" altLang="ja-JP" sz="1200" dirty="0" smtClean="0"/>
              <a:t>”</a:t>
            </a:r>
            <a:r>
              <a:rPr lang="en-US" altLang="ja-JP" sz="1200" dirty="0" err="1"/>
              <a:t>yyyy</a:t>
            </a:r>
            <a:r>
              <a:rPr lang="en-US" altLang="ja-JP" sz="1200" dirty="0"/>
              <a:t>/MM/</a:t>
            </a:r>
            <a:r>
              <a:rPr lang="en-US" altLang="ja-JP" sz="1200" dirty="0" err="1"/>
              <a:t>dd+HH:mm:ss</a:t>
            </a:r>
            <a:r>
              <a:rPr lang="en-US" altLang="ja-JP" sz="1200" dirty="0" smtClean="0"/>
              <a:t>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smtClean="0"/>
              <a:t>state:</a:t>
            </a:r>
            <a:r>
              <a:rPr lang="ja-JP" altLang="en-US" sz="1200" dirty="0" smtClean="0"/>
              <a:t>現在の状態、起動中</a:t>
            </a:r>
            <a:r>
              <a:rPr lang="en-US" altLang="ja-JP" sz="1200" dirty="0" smtClean="0"/>
              <a:t>or</a:t>
            </a:r>
            <a:r>
              <a:rPr lang="ja-JP" altLang="en-US" sz="1200" dirty="0" smtClean="0"/>
              <a:t>稼働中</a:t>
            </a:r>
            <a:r>
              <a:rPr lang="en-US" altLang="ja-JP" sz="1200" dirty="0" smtClean="0"/>
              <a:t>(START)</a:t>
            </a:r>
            <a:r>
              <a:rPr lang="ja-JP" altLang="en-US" sz="1200" dirty="0" smtClean="0"/>
              <a:t>停止中</a:t>
            </a:r>
            <a:r>
              <a:rPr lang="en-US" altLang="ja-JP" sz="1200" dirty="0" smtClean="0"/>
              <a:t>(STOP)</a:t>
            </a:r>
            <a:r>
              <a:rPr lang="ja-JP" altLang="en-US" sz="1200" dirty="0" smtClean="0"/>
              <a:t>再起動中</a:t>
            </a:r>
            <a:r>
              <a:rPr lang="en-US" altLang="ja-JP" sz="1200" dirty="0" smtClean="0"/>
              <a:t>(REST)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/>
              <a:t>os</a:t>
            </a:r>
            <a:r>
              <a:rPr lang="en-US" altLang="ja-JP" sz="1200" dirty="0" smtClean="0"/>
              <a:t>:</a:t>
            </a:r>
            <a:r>
              <a:rPr lang="ja-JP" altLang="en-US" sz="1200" dirty="0" smtClean="0"/>
              <a:t>起動中の</a:t>
            </a:r>
            <a:r>
              <a:rPr lang="en-US" altLang="ja-JP" sz="1200" dirty="0" smtClean="0"/>
              <a:t>OS</a:t>
            </a:r>
            <a:r>
              <a:rPr lang="ja-JP" altLang="en-US" sz="1200" dirty="0" smtClean="0"/>
              <a:t>名</a:t>
            </a:r>
            <a:endParaRPr lang="en-US" altLang="ja-JP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/>
              <a:t>ip</a:t>
            </a:r>
            <a:r>
              <a:rPr lang="en-US" altLang="ja-JP" sz="1200" dirty="0" smtClean="0"/>
              <a:t>:</a:t>
            </a:r>
            <a:r>
              <a:rPr lang="ja-JP" altLang="en-US" sz="1200" dirty="0" smtClean="0"/>
              <a:t>クライアントの</a:t>
            </a:r>
            <a:r>
              <a:rPr lang="en-US" altLang="ja-JP" sz="1200" dirty="0" smtClean="0"/>
              <a:t>IP</a:t>
            </a:r>
            <a:r>
              <a:rPr lang="ja-JP" altLang="en-US" sz="1200" dirty="0" smtClean="0"/>
              <a:t>アドレス</a:t>
            </a:r>
            <a:endParaRPr lang="en-US" altLang="ja-JP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/>
              <a:t>logon_user</a:t>
            </a:r>
            <a:r>
              <a:rPr lang="en-US" altLang="ja-JP" sz="1200" dirty="0" smtClean="0"/>
              <a:t>:</a:t>
            </a:r>
            <a:r>
              <a:rPr lang="ja-JP" altLang="en-US" sz="1200" dirty="0" smtClean="0"/>
              <a:t>ログオン中のユーザがいる場合はそのユーザ名</a:t>
            </a:r>
            <a:endParaRPr lang="en-US" altLang="ja-JP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200" dirty="0" err="1" smtClean="0"/>
              <a:t>logon_time</a:t>
            </a:r>
            <a:r>
              <a:rPr lang="en-US" altLang="ja-JP" sz="1200" dirty="0" smtClean="0"/>
              <a:t>:</a:t>
            </a:r>
            <a:r>
              <a:rPr lang="ja-JP" altLang="en-US" sz="1200" dirty="0" smtClean="0"/>
              <a:t>ログオン時間（＝</a:t>
            </a:r>
            <a:r>
              <a:rPr lang="en-US" altLang="ja-JP" sz="1200" dirty="0" err="1" smtClean="0"/>
              <a:t>logon_user</a:t>
            </a:r>
            <a:r>
              <a:rPr lang="ja-JP" altLang="en-US" sz="1200" dirty="0" smtClean="0"/>
              <a:t>が取得できた時間）、フォーマットは</a:t>
            </a:r>
            <a:r>
              <a:rPr lang="en-US" altLang="ja-JP" sz="1200" dirty="0" smtClean="0"/>
              <a:t>”</a:t>
            </a:r>
            <a:r>
              <a:rPr lang="en-US" altLang="ja-JP" sz="1200" dirty="0" err="1" smtClean="0"/>
              <a:t>yyyy</a:t>
            </a:r>
            <a:r>
              <a:rPr lang="en-US" altLang="ja-JP" sz="1200" dirty="0" smtClean="0"/>
              <a:t>/MM/</a:t>
            </a:r>
            <a:r>
              <a:rPr lang="en-US" altLang="ja-JP" sz="1200" dirty="0" err="1" smtClean="0"/>
              <a:t>dd+HH:mm:ss</a:t>
            </a:r>
            <a:r>
              <a:rPr lang="en-US" altLang="ja-JP" sz="1200" dirty="0" smtClean="0"/>
              <a:t>”</a:t>
            </a: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実行トリガー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エージェントサービス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起動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時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サーバからステータス要求を受信した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0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～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5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秒後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(NKAgent.ini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ACTMODE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ACTIVE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ではない場合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サービス起動後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秒毎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(NKAgent.ini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ACTMODE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ACTIVE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の場合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188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AD12F-710A-4076-AF00-552BC72F0731}" type="slidenum"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/>
              <a:t>6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その他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2001" name="AutoShape 17"/>
          <p:cNvSpPr>
            <a:spLocks noChangeArrowheads="1"/>
          </p:cNvSpPr>
          <p:nvPr/>
        </p:nvSpPr>
        <p:spPr bwMode="auto">
          <a:xfrm>
            <a:off x="250825" y="677863"/>
            <a:ext cx="8645525" cy="5775325"/>
          </a:xfrm>
          <a:prstGeom prst="roundRect">
            <a:avLst>
              <a:gd name="adj" fmla="val 1213"/>
            </a:avLst>
          </a:prstGeom>
          <a:noFill/>
          <a:ln w="9525">
            <a:solidFill>
              <a:srgbClr val="626464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>
            <a:lvl1pPr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400050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80168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201738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603375" defTabSz="801688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0605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5177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29749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432175" defTabSz="80168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110000"/>
              </a:lnSpc>
            </a:pPr>
            <a:endParaRPr lang="ja-JP" altLang="en-US" sz="1100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3896" y="881424"/>
            <a:ext cx="8244656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defTabSz="801688"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801688" fontAlgn="base">
              <a:spcBef>
                <a:spcPct val="0"/>
              </a:spcBef>
              <a:spcAft>
                <a:spcPct val="0"/>
              </a:spcAft>
              <a:tabLst>
                <a:tab pos="498475" algn="l"/>
              </a:tabLs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1400" dirty="0" smtClean="0"/>
              <a:t>■開発環境</a:t>
            </a:r>
            <a:endParaRPr lang="en-US" altLang="ja-JP" sz="1400" dirty="0" smtClean="0"/>
          </a:p>
          <a:p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Windows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Visual 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Studio 2013 (C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Linux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Python 2.7.x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以上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任意のテキストエディタを使用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 smtClean="0"/>
              <a:t>■動作環境</a:t>
            </a:r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Windows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err="1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.Net</a:t>
            </a: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Framework 4.5.1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Linux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版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Python 2.7.x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以上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Python-daemon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Python-requests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 smtClean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 UI" panose="020B0604030504040204" pitchFamily="50" charset="-128"/>
              </a:rPr>
              <a:t>■</a:t>
            </a:r>
            <a:r>
              <a:rPr lang="ja-JP" altLang="en-US" sz="1400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 UI" panose="020B0604030504040204" pitchFamily="50" charset="-128"/>
              </a:rPr>
              <a:t>既知</a:t>
            </a:r>
            <a:r>
              <a:rPr lang="ja-JP" altLang="en-US" sz="1400" dirty="0" smtClean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 UI" panose="020B0604030504040204" pitchFamily="50" charset="-128"/>
              </a:rPr>
              <a:t>の問題</a:t>
            </a:r>
            <a:endParaRPr lang="en-US" altLang="ja-JP" sz="1400" dirty="0" smtClean="0">
              <a:latin typeface="ＭＳ Ｐゴシック" panose="020B0600070205080204" pitchFamily="50" charset="-128"/>
              <a:ea typeface="ＭＳ Ｐゴシック" panose="020B060007020508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Windows 10</a:t>
            </a:r>
            <a:r>
              <a:rPr lang="ja-JP" altLang="en-US" sz="1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へインストールすると、再起動・シャットダウン時にメッセージが表示されない</a:t>
            </a:r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519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HGP創英角ｺﾞｼｯｸUB"/>
        <a:ea typeface="HGP創英角ｺﾞｼｯｸUB"/>
        <a:cs typeface=""/>
      </a:majorFont>
      <a:minorFont>
        <a:latin typeface="HGP創英角ｺﾞｼｯｸUB"/>
        <a:ea typeface="HGP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GP創英角ｺﾞｼｯｸUB" pitchFamily="50" charset="-128"/>
            <a:ea typeface="HGP創英角ｺﾞｼｯｸUB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GP創英角ｺﾞｼｯｸUB" pitchFamily="50" charset="-128"/>
            <a:ea typeface="HGP創英角ｺﾞｼｯｸUB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417</Words>
  <Application>Microsoft Office PowerPoint</Application>
  <PresentationFormat>画面に合わせる (4:3)</PresentationFormat>
  <Paragraphs>146</Paragraphs>
  <Slides>7</Slides>
  <Notes>7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8" baseType="lpstr">
      <vt:lpstr>標準デザイン</vt:lpstr>
      <vt:lpstr>NetKaleido v4 エージェント</vt:lpstr>
      <vt:lpstr>1.サーバ から クライアントへの通信について ①</vt:lpstr>
      <vt:lpstr>1.サーバ から クライアントへの通信について ②</vt:lpstr>
      <vt:lpstr>1.サーバ から クライアントへの通信について ③</vt:lpstr>
      <vt:lpstr>1.サーバ から クライアントへの通信について ④</vt:lpstr>
      <vt:lpstr>2.クライアントからサーバへの通信について ①</vt:lpstr>
      <vt:lpstr>3.その他</vt:lpstr>
    </vt:vector>
  </TitlesOfParts>
  <Company>********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********</dc:creator>
  <cp:lastModifiedBy>真田　実</cp:lastModifiedBy>
  <cp:revision>153</cp:revision>
  <cp:lastPrinted>2013-04-02T06:54:14Z</cp:lastPrinted>
  <dcterms:created xsi:type="dcterms:W3CDTF">2009-01-29T00:41:57Z</dcterms:created>
  <dcterms:modified xsi:type="dcterms:W3CDTF">2016-01-08T07:37:24Z</dcterms:modified>
</cp:coreProperties>
</file>